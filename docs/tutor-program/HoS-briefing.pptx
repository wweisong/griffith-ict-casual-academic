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halves. A system that makes tutors findable — built, deployed, and I can demonstrate it today. And a training program, which is what I am asking the School to endorse.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criticism of convenors. There is nothing for them to hand over to — no shared model, no materials, no record of who has taught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Checked against public Griffith sources. The written proposal notes we should confirm with the School Manager that nothing internal already exists — if it does, we adopt it rather than duplicate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 change. Strong students are asked, rather than left to find out by knowing somebody. And training becomes a School standard, not a convenor's discretion.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already, at no cost to the School, and deployed. Two links: one goes to students, one to staff. Each audience sees only what applies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have exactly one job here, so they get exactly one page and no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page that addresses the real problem. Convenors do not struggle to run a selection process — they struggle to find out who is available at all. Note the people who have taught a course but did not apply this time; they were invisible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approval workflow and no shortlisting buttons. The system informs the convenor; the decision and the conversation stay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Coordinator, this is where I would identify first-time tutors for the Week 0 workshop — derived from the records rather than by asking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not compliance training — Griffith does that already and repeating it would waste the only three hours the School gets. Not course-specific either; convenors brief their own tutors. This is what is common to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program that cannot fail its own evaluation is not being evaluated. The last one matters most: if it depends on one person it is a hobby with a budget, not a School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framing is deliberate. I am not asking for a permanent commitment to something untested — one trimester, against criteria agreed in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Please do open it — the convenor account shows the page that matters most. Administrator access on request. Proposal, process, workshop run sheet and code of conduct are all at github.com/WWEISONG/griffith-ict-casual-academic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written up in the repository — the gap analysis with sources, the full process, the workshop run sheet, the code of conduct and the evaluation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SCHOOL OF INFORMATION AND COMMUNICATION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95728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200" b="1">
                <a:solidFill>
                  <a:srgbClr val="191C22"/>
                </a:solidFill>
                <a:latin typeface="Calibri"/>
              </a:rPr>
              <a:t>Preparing the people who teach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A4A52"/>
                </a:solidFill>
                <a:latin typeface="Calibri"/>
              </a:rPr>
              <a:t>A Casual Academic Management System, and the training to go with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4343400"/>
            <a:ext cx="128016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681728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Wei Song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C7A80"/>
                </a:solidFill>
                <a:latin typeface="Calibri"/>
              </a:rPr>
              <a:t>Proposal to the Head of School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We appoint tutors every trimester. We prepare none of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191C22"/>
                </a:solidFill>
                <a:latin typeface="Calibri"/>
              </a:rPr>
              <a:t>A new tutor's readiness depends entirely on which convenor hired them.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Some get a thorough handover. Some are told the room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206240"/>
            <a:ext cx="3227832" cy="1371600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267919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B60A20"/>
                </a:solidFill>
                <a:latin typeface="Calibri"/>
              </a:rPr>
              <a:t>187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courses in the School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1104" y="4206240"/>
            <a:ext cx="3227832" cy="1371600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4434840"/>
            <a:ext cx="267919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B60A20"/>
                </a:solidFill>
                <a:latin typeface="Calibri"/>
              </a:rPr>
              <a:t>Every trimester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we appoint casual academics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4968" y="4206240"/>
            <a:ext cx="3227832" cy="1371600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4434840"/>
            <a:ext cx="267919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B60A20"/>
                </a:solidFill>
                <a:latin typeface="Calibri"/>
              </a:rPr>
              <a:t>No standard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for teaching preparation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WHAT GRIFFITH ALREADY PROVIDES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Thorough compliance. No teaching preparation.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378440" cy="402336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29384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8888" y="1929384"/>
            <a:ext cx="3712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What it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8" y="1929384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Teaching?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31136"/>
            <a:ext cx="10378440" cy="603504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77440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1C22"/>
                </a:solidFill>
                <a:latin typeface="Calibri"/>
              </a:rPr>
              <a:t>Mandatory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2377440"/>
            <a:ext cx="37124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WHS, integrity, privacy, equity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2377440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0A20"/>
                </a:solidFill>
                <a:latin typeface="Calibri"/>
              </a:rPr>
              <a:t>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34640"/>
            <a:ext cx="103784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980944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1C22"/>
                </a:solidFill>
                <a:latin typeface="Calibri"/>
              </a:rPr>
              <a:t>Casual Staff Time Recording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980944"/>
            <a:ext cx="37124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Timesheets and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2980944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0A20"/>
                </a:solidFill>
                <a:latin typeface="Calibri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38144"/>
            <a:ext cx="10378440" cy="603504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584448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1C22"/>
                </a:solidFill>
                <a:latin typeface="Calibri"/>
              </a:rPr>
              <a:t>How to engage sessional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3584448"/>
            <a:ext cx="37124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Guidance for the hiring academic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3584448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0A20"/>
                </a:solidFill>
                <a:latin typeface="Calibri"/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041648"/>
            <a:ext cx="103784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187952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1C22"/>
                </a:solidFill>
                <a:latin typeface="Calibri"/>
              </a:rPr>
              <a:t>Tutoring for Success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4187952"/>
            <a:ext cx="37124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A different program, a different cohort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418795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60A20"/>
                </a:solidFill>
                <a:latin typeface="Calibri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91C22"/>
                </a:solidFill>
                <a:latin typeface="Calibri"/>
              </a:rPr>
              <a:t>Compliance and payroll, done well. Nothing that prepares somebody to teach.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That gap sits at School level: how a computing lab runs is not something a central program can cover.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One cycle, every trimester, with a named owner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7463" y="1828800"/>
            <a:ext cx="2011680" cy="2468880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6919" y="2029968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6919" y="2395728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Invite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6919" y="2816352"/>
            <a:ext cx="15727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Convenors invite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students who did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6919" y="38404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7A80"/>
                </a:solidFill>
                <a:latin typeface="Calibri"/>
              </a:rPr>
              <a:t>CONVENOR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9143" y="288036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C7A80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13735" y="1828800"/>
            <a:ext cx="2011680" cy="2468880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3191" y="2029968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3191" y="2395728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3191" y="2816352"/>
            <a:ext cx="15727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One standing application: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experience, ranked courses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3191" y="38404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7A80"/>
                </a:solidFill>
                <a:latin typeface="Calibri"/>
              </a:rPr>
              <a:t>CANDIDATE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5415" y="288036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C7A80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0007" y="1828800"/>
            <a:ext cx="2011680" cy="2468880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9463" y="2029968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9463" y="2395728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9463" y="2816352"/>
            <a:ext cx="15727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Search by course.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Contact directly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9463" y="38404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7A80"/>
                </a:solidFill>
                <a:latin typeface="Calibri"/>
              </a:rPr>
              <a:t>CONVENOR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288036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C7A80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6279" y="1828800"/>
            <a:ext cx="2011680" cy="24688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5735" y="2029968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5735" y="2395728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5735" y="2816352"/>
            <a:ext cx="15727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Week 0 workshop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Three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5735" y="38404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COORDINATOR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7959" y="288036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C7A80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42551" y="1828800"/>
            <a:ext cx="2011680" cy="2468880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2007" y="2029968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2007" y="2395728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Teach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2007" y="2816352"/>
            <a:ext cx="15727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Shared tutorial model.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Week 3 check-in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2007" y="384048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7A80"/>
                </a:solidFill>
                <a:latin typeface="Calibri"/>
              </a:rPr>
              <a:t>CONVENOR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7091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C22"/>
                </a:solidFill>
                <a:latin typeface="Calibri"/>
              </a:rPr>
              <a:t>Step 4 is the new part. The rest already happens — just not consistently, and nowhere on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HALF OF IT ALREADY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The Casual Academic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C22"/>
                </a:solidFill>
                <a:latin typeface="Calibri"/>
              </a:rPr>
              <a:t>One place where senior students put themselves forward, and convenors find out who can teach their course.</a:t>
            </a:r>
          </a:p>
        </p:txBody>
      </p:sp>
      <p:pic>
        <p:nvPicPr>
          <p:cNvPr id="6" name="Picture 5" descr="00-entrance-cand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697480"/>
            <a:ext cx="4572000" cy="285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80160" y="2697480"/>
            <a:ext cx="4572000" cy="2857500"/>
          </a:xfrm>
          <a:prstGeom prst="rect">
            <a:avLst/>
          </a:prstGeom>
          <a:noFill/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entrance-sta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697480"/>
            <a:ext cx="4572000" cy="2857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2697480"/>
            <a:ext cx="4572000" cy="2857500"/>
          </a:xfrm>
          <a:prstGeom prst="rect">
            <a:avLst/>
          </a:prstGeom>
          <a:noFill/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57783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4A52"/>
                </a:solidFill>
                <a:latin typeface="Calibri"/>
              </a:rPr>
              <a:t>Candidates have their own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557783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4A52"/>
                </a:solidFill>
                <a:latin typeface="Calibri"/>
              </a:rPr>
              <a:t>Convenors have theirs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THE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One page, one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-cand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828800"/>
            <a:ext cx="7315200" cy="4572000"/>
          </a:xfrm>
          <a:prstGeom prst="rect">
            <a:avLst/>
          </a:prstGeom>
          <a:noFill/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196596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938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Everything on one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01752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98094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Teaching experience, ranked course choices, a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06908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03250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Always open — no round to wait for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THE CONVENOR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Every candidate, searchable by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-conven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828800"/>
            <a:ext cx="7315200" cy="4572000"/>
          </a:xfrm>
          <a:prstGeom prst="rect">
            <a:avLst/>
          </a:prstGeom>
          <a:noFill/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196596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938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Everyone registered — not only this trimester's applicants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01752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98094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Two columns: what they have taught, what they applied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06908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03250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Filter by a course; those who have taught it come 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ONE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Everything known, in one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1-conveno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828800"/>
            <a:ext cx="7315200" cy="4572000"/>
          </a:xfrm>
          <a:prstGeom prst="rect">
            <a:avLst/>
          </a:prstGeom>
          <a:noFill/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196596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938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Full teaching history, by course and trimester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01752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98094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Their applied courses, in their own ranked 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06908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03250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Their statement, contact details, availability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THE ADMINISTRATOR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The School-wide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828800"/>
            <a:ext cx="7315200" cy="4572000"/>
          </a:xfrm>
          <a:prstGeom prst="rect">
            <a:avLst/>
          </a:prstGeom>
          <a:noFill/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196596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938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Every candidate, across all 187 courses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01752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98094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Create and manage convenor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069080"/>
            <a:ext cx="38100" cy="64008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032504"/>
            <a:ext cx="2819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Export to CSV for the School office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THE MISSING HALF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Week 0 workshop — three hours, before teaching starts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274320" cy="274320"/>
          </a:xfrm>
          <a:prstGeom prst="rect">
            <a:avLst/>
          </a:prstGeom>
          <a:solidFill>
            <a:srgbClr val="DD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9222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What a tutor does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Not a second lecturer. Find out what students did not understand.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77440"/>
            <a:ext cx="274320" cy="27432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4086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The tutorial model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Review · supported practice · consolidation. Draft your own first session.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274320" cy="274320"/>
          </a:xfrm>
          <a:prstGeom prst="rect">
            <a:avLst/>
          </a:prstGeom>
          <a:solidFill>
            <a:srgbClr val="DD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88950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Micro-teaching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Deliver a five-minute concept review to a peer.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274320" cy="27432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3814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Helping without answering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Hands off the keyboard. Ask before you tell.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23360"/>
            <a:ext cx="274320" cy="274320"/>
          </a:xfrm>
          <a:prstGeom prst="rect">
            <a:avLst/>
          </a:prstGeom>
          <a:solidFill>
            <a:srgbClr val="DD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98678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Marking consistently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Everyone marks the same submission. Compare the spread.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72000"/>
            <a:ext cx="274320" cy="274320"/>
          </a:xfrm>
          <a:prstGeom prst="rect">
            <a:avLst/>
          </a:prstGeom>
          <a:solidFill>
            <a:srgbClr val="DD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3542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Conduct and escalation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Boundaries, integrity, students in difficulty.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120640"/>
            <a:ext cx="274320" cy="274320"/>
          </a:xfrm>
          <a:prstGeom prst="rect">
            <a:avLst/>
          </a:prstGeom>
          <a:solidFill>
            <a:srgbClr val="DD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08406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Senior tutor panel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52"/>
                </a:solidFill>
                <a:latin typeface="Calibri"/>
              </a:rPr>
              <a:t>The most credible voice in the room.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978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60A20"/>
                </a:solidFill>
                <a:latin typeface="Calibri"/>
              </a:rPr>
              <a:t>Half the time is spent doing, not listening.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HOW WE WOULD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Measures chosen so a failed pilot shows up as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074920" cy="1170432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38100" cy="1170432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11680"/>
            <a:ext cx="44897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Coverage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90% of first-time tutors trained before teaching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4768" y="1828800"/>
            <a:ext cx="5074920" cy="1170432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4768" y="1828800"/>
            <a:ext cx="38100" cy="1170432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2011680"/>
            <a:ext cx="44897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Convenor judgement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Better prepared than previous trimesters?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This decides continuation.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00400"/>
            <a:ext cx="5074920" cy="1170432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200400"/>
            <a:ext cx="38100" cy="1170432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383280"/>
            <a:ext cx="44897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Participant judgement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Prepared to run my first tutorial: 4.0 /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3200400"/>
            <a:ext cx="5074920" cy="1170432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200400"/>
            <a:ext cx="38100" cy="1170432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383280"/>
            <a:ext cx="44897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Retention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60% of tutors return the following trimester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54880"/>
            <a:ext cx="1044244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60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B60A20"/>
                </a:solidFill>
                <a:latin typeface="Calibri"/>
              </a:rPr>
              <a:t>What would count as failure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1C22"/>
                </a:solidFill>
                <a:latin typeface="Calibri"/>
              </a:rPr>
              <a:t>Convenors bypass the system  ·  No difference in preparedness  ·  Tutors do not attend  ·  It cannot run without 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WHAT I AM ASKING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Four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442448" cy="841248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0299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B60A2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84248"/>
            <a:ext cx="91440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Endorse the cycle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Adopt the trimester process as School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79776"/>
            <a:ext cx="10442448" cy="841248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9809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B60A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935224"/>
            <a:ext cx="91440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Endorse the expectation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First-time tutors attend Week 0 before teaching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730752"/>
            <a:ext cx="10442448" cy="841248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B60A20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86200"/>
            <a:ext cx="91440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Confirm the owner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Casual Academic Coordinator — proposed: Wei Song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81728"/>
            <a:ext cx="10442448" cy="841248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8828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B60A2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37176"/>
            <a:ext cx="91440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91C22"/>
                </a:solidFill>
                <a:latin typeface="Calibri"/>
              </a:rPr>
              <a:t>Agree a pilot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52"/>
                </a:solidFill>
                <a:latin typeface="Calibri"/>
              </a:rPr>
              <a:t>Run it once, review, then 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88736"/>
            <a:ext cx="1044244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1C22"/>
                </a:solidFill>
                <a:latin typeface="Calibri"/>
              </a:rPr>
              <a:t>The system is built. The materials are written. What is needed is one trimester to try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60A20"/>
                </a:solidFill>
                <a:latin typeface="Calibri"/>
              </a:rPr>
              <a:t>TRY IT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86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91C22"/>
                </a:solidFill>
                <a:latin typeface="Calibri"/>
              </a:rPr>
              <a:t>It is live. Please open it during or after this meeting.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36192"/>
            <a:ext cx="100584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074920" cy="1737360"/>
          </a:xfrm>
          <a:prstGeom prst="rect">
            <a:avLst/>
          </a:prstGeom>
          <a:solidFill>
            <a:srgbClr val="F7F6F5"/>
          </a:solidFill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2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B60A20"/>
                </a:solidFill>
                <a:latin typeface="Calibri"/>
              </a:rPr>
              <a:t>Links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C7A80"/>
                </a:solidFill>
                <a:latin typeface="Calibri"/>
              </a:rPr>
              <a:t>Candidates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91C22"/>
                </a:solidFill>
                <a:latin typeface="Calibri"/>
              </a:rPr>
              <a:t>wweisong.github.io/griffith-ict-casual-academic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C7A80"/>
                </a:solidFill>
                <a:latin typeface="Calibri"/>
              </a:rPr>
              <a:t>Convenors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1C22"/>
                </a:solidFill>
                <a:latin typeface="Calibri"/>
              </a:rPr>
              <a:t>.../griffith-ict-casual-academic/#/staff</a:t>
            </a:r>
          </a:p>
        </p:txBody>
      </p:sp>
      <p:sp>
        <p:nvSpPr>
          <p:cNvPr id="7" name="Rectangle 6"/>
          <p:cNvSpPr/>
          <p:nvPr/>
        </p:nvSpPr>
        <p:spPr>
          <a:xfrm>
            <a:off x="6144768" y="1828800"/>
            <a:ext cx="50749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B60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8" y="2084832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B60A20"/>
                </a:solidFill>
                <a:latin typeface="Calibri"/>
              </a:rPr>
              <a:t>Accounts for this demonstration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C7A80"/>
                </a:solidFill>
                <a:latin typeface="Calibri"/>
              </a:rPr>
              <a:t>Candidate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91C22"/>
                </a:solidFill>
                <a:latin typeface="Calibri"/>
              </a:rPr>
              <a:t>sample.liam.chen@griffithuni.edu.au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C7A80"/>
                </a:solidFill>
                <a:latin typeface="Calibri"/>
              </a:rPr>
              <a:t>Convenor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91C22"/>
                </a:solidFill>
                <a:latin typeface="Calibri"/>
              </a:rPr>
              <a:t>sample.convenor@griffith.edu.au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60A20"/>
                </a:solidFill>
                <a:latin typeface="Calibri"/>
              </a:rPr>
              <a:t>Password for both:  SamplePortal#2027</a:t>
            </a:r>
          </a:p>
        </p:txBody>
      </p:sp>
      <p:pic>
        <p:nvPicPr>
          <p:cNvPr id="9" name="Picture 8" descr="22-admi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794760"/>
            <a:ext cx="4251960" cy="26574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77639" y="3794760"/>
            <a:ext cx="4251960" cy="2657475"/>
          </a:xfrm>
          <a:prstGeom prst="rect">
            <a:avLst/>
          </a:prstGeom>
          <a:noFill/>
          <a:ln w="9525">
            <a:solidFill>
              <a:srgbClr val="DDD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37960"/>
            <a:ext cx="10442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4A52"/>
                </a:solidFill>
                <a:latin typeface="Calibri"/>
              </a:rPr>
              <a:t>The candidates shown are sample records, not real students.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377440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4200" b="1">
                <a:solidFill>
                  <a:srgbClr val="191C22"/>
                </a:solidFill>
                <a:latin typeface="Calibri"/>
              </a:rPr>
              <a:t>Students remember their tutors.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A4A52"/>
                </a:solidFill>
                <a:latin typeface="Calibri"/>
              </a:rPr>
              <a:t>They are the staff our students see most, and the only ones we have never prepared.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4480560"/>
            <a:ext cx="1280160" cy="31750"/>
          </a:xfrm>
          <a:prstGeom prst="rect">
            <a:avLst/>
          </a:prstGeom>
          <a:solidFill>
            <a:srgbClr val="B60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828032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91C22"/>
                </a:solidFill>
                <a:latin typeface="Calibri"/>
              </a:rPr>
              <a:t>Wei Song  ·  w.song@griffith.edu.au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C7A80"/>
                </a:solidFill>
                <a:latin typeface="Calibri"/>
              </a:rPr>
              <a:t>github.com/WWEISONG/griffith-ict-casual-academic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