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halves. A system that makes tutors findable — built, deployed, and I can demonstrate it today. And the training program, which is what I am asking the School to endorse.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criticism of convenors. There is no shared model, no materials and no record of who has taught what, so each of them starts from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Checked against public Griffith sources only — I cannot see the staff intranet. The written proposal says we should confirm with the School Manager first. If something internal exists, we adopt it rather than duplicate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change. Strong students get asked. And training becomes a School standard rather than a convenor's discretion.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links. One goes to students, one to staff. Each audience sees only what applies to them. Built at no cost to the School.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have exactly one job here, so they get exactly one page and no navigation to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page that addresses the real problem. Convenors do not struggle to run a selection process — they struggle to find out who is available at all. Note the people who have taught a course but did not apply this time; they were invisible before.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approval workflow and no shortlisting buttons. The system informs the convenor; the decision and the conversation stay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Coordinator this is where I would identify first-time tutors for the Week 0 workshop — derived from the records, rather than by asking around.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compliance training: Griffith does that already and repeating it would waste the only three hours the School gets. Not course-specific either — convenors brief their own tutors. This is what is common to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program that cannot fail its own evaluation is not being evaluated. The last condition matters most: if it depends on one person, it is a hobby with a budget rather than a School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pilot framing is deliberate. I am not asking for a permanent commitment to something untested — one trimester, measured against criteria agreed in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do open it. The convenor account shows the page that matters most. Everything — proposal, process, workshop run sheet, code of conduct — is at github.com/WWEISONG/griffith-ict-casual-academic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written up in the repository — the gap analysis with sources, the full process, the workshop run sheet, the code of conduct and the evaluation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41732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7472" y="256032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111111"/>
                </a:solidFill>
                <a:latin typeface="Arial"/>
              </a:rPr>
              <a:t>Preparing the People Who Teach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95959"/>
                </a:solidFill>
                <a:latin typeface="Arial"/>
              </a:rPr>
              <a:t>A Casual Academic Management System, and the training to go with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4224528"/>
            <a:ext cx="1371600" cy="317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4572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>
                <a:solidFill>
                  <a:srgbClr val="111111"/>
                </a:solidFill>
                <a:latin typeface="Arial"/>
              </a:rPr>
              <a:t>Wei Song  ·  School of Information and Communication Technology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Arial"/>
              </a:rPr>
              <a:t>Proposal to the Head of School  —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We Appoint Tutors Every Trimester,</a:t>
            </a:r>
            <a:br/>
            <a:r>
              <a:t>and Prepare None of Them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A new tutor's readiness depends entirely on which convenor hired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755648"/>
            <a:ext cx="64922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▪  Some receive a thorough handover; some are told the room number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▪  No School standard for what a tutor should be able to do before teaching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▪  No shared model of how an ICT tutorial or lab is run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▪  No marking calibration between tutors on the same course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▪  No record of who has been prepared, so nothing carries forward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182880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C00000"/>
                </a:solidFill>
                <a:latin typeface="Arial"/>
              </a:rPr>
              <a:t>187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2304288"/>
            <a:ext cx="4663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Courses in the School, staffed by casual academics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333756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0878B8"/>
                </a:solidFill>
                <a:latin typeface="Arial"/>
              </a:rPr>
              <a:t>Every trimester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3813048"/>
            <a:ext cx="4663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We appoint tutors, demonstrators and markers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484632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C87413"/>
                </a:solidFill>
                <a:latin typeface="Arial"/>
              </a:rPr>
              <a:t>No standard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5321808"/>
            <a:ext cx="4663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For teaching preparation, at any level of the School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630021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Arial"/>
              </a:rPr>
              <a:t>The gap is not the convenors' — there is nothing for them to hand over 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Griffith Covers Compliance.</a:t>
            </a:r>
            <a:br/>
            <a:r>
              <a:t>Nobody Covers Teaching.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What a casual academic receives today, and what it does not include.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755648"/>
            <a:ext cx="11521440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65376"/>
            <a:ext cx="3895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Provision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865376"/>
            <a:ext cx="4626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865376"/>
            <a:ext cx="20665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Teaching?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2176272"/>
            <a:ext cx="115214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22576"/>
            <a:ext cx="38953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11111"/>
                </a:solidFill>
                <a:latin typeface="Arial"/>
              </a:rPr>
              <a:t>Mandatory onboarding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322576"/>
            <a:ext cx="46268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WHS, integrity, privacy, equity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322576"/>
            <a:ext cx="20665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Arial"/>
              </a:rPr>
              <a:t>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743200"/>
            <a:ext cx="11521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89504"/>
            <a:ext cx="38953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11111"/>
                </a:solidFill>
                <a:latin typeface="Arial"/>
              </a:rPr>
              <a:t>Casual Staff Time Recording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889504"/>
            <a:ext cx="46268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Timesheets and payment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889504"/>
            <a:ext cx="20665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Arial"/>
              </a:rPr>
              <a:t>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310128"/>
            <a:ext cx="11521440" cy="56692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456432"/>
            <a:ext cx="38953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11111"/>
                </a:solidFill>
                <a:latin typeface="Arial"/>
              </a:rPr>
              <a:t>How to engage sessional staff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456432"/>
            <a:ext cx="46268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Guidance for the hiring academic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3456432"/>
            <a:ext cx="20665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Arial"/>
              </a:rPr>
              <a:t>No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3877056"/>
            <a:ext cx="11521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38953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11111"/>
                </a:solidFill>
                <a:latin typeface="Arial"/>
              </a:rPr>
              <a:t>Tutoring for Success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023360"/>
            <a:ext cx="46268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A different program, a different 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4023360"/>
            <a:ext cx="20665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Arial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" y="4855464"/>
            <a:ext cx="11521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11111"/>
                </a:solidFill>
                <a:latin typeface="Arial"/>
              </a:rPr>
              <a:t>Compliance and payroll, done well. Nothing that prepares somebody to teach.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The gap sits at School level: how a computing lab actually runs is not something a central program can cover.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630021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Arial"/>
              </a:rPr>
              <a:t>Griffith public sources, September 2026  ·  School Manager to confirm nothing internal already exists before this proceeds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One Cycle, Every Trimester,</a:t>
            </a:r>
            <a:br/>
            <a:r>
              <a:t>with a Named Owner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Steps 1, 2, 3 and 5 already happen — just not consistently, and nowhere on record.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755648"/>
            <a:ext cx="2194560" cy="26060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755648"/>
            <a:ext cx="2194560" cy="6400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0878B8"/>
                </a:solidFill>
                <a:latin typeface="Arial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37744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Arial"/>
              </a:rPr>
              <a:t>Invite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852928"/>
            <a:ext cx="175564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Convenors invite students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who did well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904488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A6A6"/>
                </a:solidFill>
                <a:latin typeface="Arial"/>
              </a:rPr>
              <a:t>CONVENOR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9192" y="1755648"/>
            <a:ext cx="2194560" cy="26060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79192" y="1755648"/>
            <a:ext cx="2194560" cy="6400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8648" y="201168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0878B8"/>
                </a:solidFill>
                <a:latin typeface="Arial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237744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Arial"/>
              </a:rPr>
              <a:t>Apply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2852928"/>
            <a:ext cx="175564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One standing application: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experience, ranked courses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3904488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A6A6"/>
                </a:solidFill>
                <a:latin typeface="Arial"/>
              </a:rPr>
              <a:t>CANDIDATE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10912" y="1755648"/>
            <a:ext cx="2194560" cy="26060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10912" y="1755648"/>
            <a:ext cx="2194560" cy="6400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0368" y="201168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0878B8"/>
                </a:solidFill>
                <a:latin typeface="Arial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37744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Arial"/>
              </a:rPr>
              <a:t>Select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0368" y="2852928"/>
            <a:ext cx="175564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Search by course.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Contact directly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904488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A6A6"/>
                </a:solidFill>
                <a:latin typeface="Arial"/>
              </a:rPr>
              <a:t>CONVENOR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2632" y="1755648"/>
            <a:ext cx="2194560" cy="26060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2632" y="1755648"/>
            <a:ext cx="2194560" cy="6400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2088" y="201168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C00000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237744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C00000"/>
                </a:solidFill>
                <a:latin typeface="Arial"/>
              </a:rPr>
              <a:t>Prepare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2852928"/>
            <a:ext cx="175564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Week 0 workshop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Three hours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62088" y="3904488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A6A6"/>
                </a:solidFill>
                <a:latin typeface="Arial"/>
              </a:rPr>
              <a:t>COORDINATOR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74352" y="1755648"/>
            <a:ext cx="2194560" cy="26060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74352" y="1755648"/>
            <a:ext cx="2194560" cy="6400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93808" y="2011680"/>
            <a:ext cx="1755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0878B8"/>
                </a:solidFill>
                <a:latin typeface="Arial"/>
              </a:rPr>
              <a:t>STEP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93808" y="2377440"/>
            <a:ext cx="1755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11111"/>
                </a:solidFill>
                <a:latin typeface="Arial"/>
              </a:rPr>
              <a:t>Teach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93808" y="2852928"/>
            <a:ext cx="175564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Shared tutorial model.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Week 3 check-in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8" y="3904488"/>
            <a:ext cx="1755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A6A6"/>
                </a:solidFill>
                <a:latin typeface="Arial"/>
              </a:rPr>
              <a:t>CONVENOR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" y="4681728"/>
            <a:ext cx="115214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▪  Step 4 is the new part — and the invitation in Step 1 becomes proactive and merit-based, rather than students finding out by knowing somebody.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Half of It Already Exists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The Casual Academic Management System — built, deployed, and in use today.</a:t>
            </a:r>
          </a:p>
        </p:txBody>
      </p:sp>
      <p:pic>
        <p:nvPicPr>
          <p:cNvPr id="6" name="Picture 5" descr="00-entrance-candi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55648"/>
            <a:ext cx="4937760" cy="30861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1755648"/>
            <a:ext cx="4937760" cy="308610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entrance-sta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755648"/>
            <a:ext cx="4937760" cy="30861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00800" y="1755648"/>
            <a:ext cx="4937760" cy="308610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017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95959"/>
                </a:solidFill>
                <a:latin typeface="Arial"/>
              </a:rPr>
              <a:t>Candidates have their own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0017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95959"/>
                </a:solidFill>
                <a:latin typeface="Arial"/>
              </a:rPr>
              <a:t>Convenors have theirs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5550408"/>
            <a:ext cx="11521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▪  One place where senior students put themselves forward, and convenors find out who can teach their course.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The Candidate's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One page, one form — everything a student needs to do.</a:t>
            </a:r>
          </a:p>
        </p:txBody>
      </p:sp>
      <p:pic>
        <p:nvPicPr>
          <p:cNvPr id="6" name="Picture 5" descr="10-candi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Details, teaching experience, ranked course choices, a supporting statement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Always open — no recruitment round to wait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Starts blank each visit, so nothing stale is resubmitted by accident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The Convenor's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Every candidate in the School, searchable by course.</a:t>
            </a:r>
          </a:p>
        </p:txBody>
      </p:sp>
      <p:pic>
        <p:nvPicPr>
          <p:cNvPr id="6" name="Picture 5" descr="11-conven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Everyone registered — not only this trimester's applicants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Two columns: what they have taught, and what they have applied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Filter by a course; those who have taught it are listed first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One Candidate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Everything known about them, in one place.</a:t>
            </a:r>
          </a:p>
        </p:txBody>
      </p:sp>
      <p:pic>
        <p:nvPicPr>
          <p:cNvPr id="6" name="Picture 5" descr="21-convenor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Full teaching history, by course and trimester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Their applied courses, in their own ranked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Their statement, contact details and availability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The Administrator's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The School-wide picture, and the accounts behind it.</a:t>
            </a:r>
          </a:p>
        </p:txBody>
      </p:sp>
      <p:pic>
        <p:nvPicPr>
          <p:cNvPr id="6" name="Picture 5" descr="12-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Every candidate, across all 187 courses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Create and manage convenor accounts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Export to CSV at any point, for the School office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The Missing Half: A Week 0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Three hours, before teaching starts, for everyone tutoring for the first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792224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75564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What a tutor does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Not a second lecturer. Find out what students did not understand.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2359152"/>
            <a:ext cx="64008" cy="3840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32257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The tutorial model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Review · supported practice · consolidation. Draft your own first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2926080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88950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Micro-teaching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Deliver a five-minute concept review to a peer, with feedback both ways.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3493008"/>
            <a:ext cx="64008" cy="3840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3456432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Helping without answering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Hands off the keyboard. Ask before you tell.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4059936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Marking consistently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Everyone marks the same submission, then compares the spread.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4626864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459028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Conduct and escalation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Boundaries, integrity, students in difficulty. Escalate, don't absorb.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5193792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5157216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Senior tutor panel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Experienced ICT tutors — the most credible voice in the room.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907024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00000"/>
                </a:solidFill>
                <a:latin typeface="Arial"/>
              </a:rPr>
              <a:t>▪  Half the time is spent doing, not listening.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630021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Arial"/>
              </a:rPr>
              <a:t>Deliberately excludes University compliance training and course-specific content — both are covered elsewhere.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How We Would Know It Worked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Measures chosen so that a failed pilot shows up as failed.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755648"/>
            <a:ext cx="562356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755648"/>
            <a:ext cx="64008" cy="114300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883664"/>
            <a:ext cx="521208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Coverage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90% of first-time tutors trained before they teach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352" y="1755648"/>
            <a:ext cx="562356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755648"/>
            <a:ext cx="64008" cy="1143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883664"/>
            <a:ext cx="521208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Convenor judgement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Better prepared than previous trimesters? This decides continuation.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3081528"/>
            <a:ext cx="562356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3081528"/>
            <a:ext cx="64008" cy="114300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3209544"/>
            <a:ext cx="521208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Participant judgement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“Prepared to run my first tutorial” — 4.0 out of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5352" y="3081528"/>
            <a:ext cx="5623560" cy="1143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3081528"/>
            <a:ext cx="64008" cy="11430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3209544"/>
            <a:ext cx="521208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Retention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60% of tutors return the following trimester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636008"/>
            <a:ext cx="11521440" cy="11887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636008"/>
            <a:ext cx="64008" cy="1188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18888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C00000"/>
                </a:solidFill>
                <a:latin typeface="Arial"/>
              </a:rPr>
              <a:t>What would count as failure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Convenors bypass the system  ·  No difference in preparedness  ·  First-time tutors do not attend  ·  It cannot run without 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What I Am Asking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Four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755648"/>
            <a:ext cx="1152144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755648"/>
            <a:ext cx="64008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75104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192024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Endorse the cycle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Adopt the trimester process as School practice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2743200"/>
            <a:ext cx="1152144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743200"/>
            <a:ext cx="64008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62656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07592" y="2907792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Endorse the expectation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First-time tutors attend Week 0 before they teach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3730752"/>
            <a:ext cx="1152144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3730752"/>
            <a:ext cx="64008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95020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3895344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Confirm the owner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Casual Academic Coordinator — proposed: Wei Song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718304"/>
            <a:ext cx="11521440" cy="8686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718304"/>
            <a:ext cx="64008" cy="8686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49377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882896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Agree a pilot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Run it once, review against the measures, then 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5980176"/>
            <a:ext cx="11521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Arial"/>
              </a:rPr>
              <a:t>▪  The system is built and the materials are written. What is needed is one trimester to try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Please Try It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The system is live. These accounts are for you to use during or after this meeting.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755648"/>
            <a:ext cx="5623560" cy="21488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755648"/>
            <a:ext cx="64008" cy="21488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56816"/>
            <a:ext cx="5120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0878B8"/>
                </a:solidFill>
                <a:latin typeface="Arial"/>
              </a:rPr>
              <a:t>Candidate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111111"/>
                </a:solidFill>
                <a:latin typeface="Arial"/>
              </a:rPr>
              <a:t>wweisong.github.io/griffith-ict-casual-academic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sample.liam.chen@griffithuni.edu.au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C00000"/>
                </a:solidFill>
                <a:latin typeface="Arial"/>
              </a:rPr>
              <a:t>SamplePortal#2027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Opens the application form a student fills 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352" y="1755648"/>
            <a:ext cx="5623560" cy="21488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352" y="1755648"/>
            <a:ext cx="64008" cy="2148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56816"/>
            <a:ext cx="51206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>
                <a:solidFill>
                  <a:srgbClr val="C00000"/>
                </a:solidFill>
                <a:latin typeface="Arial"/>
              </a:rPr>
              <a:t>Course convenor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111111"/>
                </a:solidFill>
                <a:latin typeface="Arial"/>
              </a:rPr>
              <a:t>wweisong.github.io/griffith-ict-casual-academic/#/staff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sample.convenor@griffith.edu.au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C00000"/>
                </a:solidFill>
                <a:latin typeface="Arial"/>
              </a:rPr>
              <a:t>SamplePortal#2027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Opens the candidate list — the page that matters most.</a:t>
            </a:r>
          </a:p>
        </p:txBody>
      </p:sp>
      <p:pic>
        <p:nvPicPr>
          <p:cNvPr id="12" name="Picture 11" descr="22-admin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4087368"/>
            <a:ext cx="3886200" cy="242887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60520" y="4087368"/>
            <a:ext cx="3886200" cy="2428875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6556248"/>
            <a:ext cx="11521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Arial"/>
              </a:rPr>
              <a:t>Administrator access on request. The candidates shown are sample records, not real students.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ap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600200"/>
            <a:ext cx="77724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7472" y="269748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3100" b="1">
                <a:solidFill>
                  <a:srgbClr val="111111"/>
                </a:solidFill>
                <a:latin typeface="Arial"/>
              </a:rPr>
              <a:t>Students Remember Their Tutors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95959"/>
                </a:solidFill>
                <a:latin typeface="Arial"/>
              </a:rPr>
              <a:t>They are the staff our students see most, and the only ones we have never prepared.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4434840"/>
            <a:ext cx="1371600" cy="317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4773168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111111"/>
                </a:solidFill>
                <a:latin typeface="Arial"/>
              </a:rPr>
              <a:t>Wei Song  ·  w.song@griffith.edu.au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Arial"/>
              </a:rPr>
              <a:t>github.com/WWEISONG/griffith-ict-casual-academic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