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24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20367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.png"/><Relationship Id="rId4" Type="http://schemas.openxmlformats.org/officeDocument/2006/relationships/hyperlink" Target="wweisong.github.io/griffith-ict-casual-academic" TargetMode="External"/><Relationship Id="rId5" Type="http://schemas.openxmlformats.org/officeDocument/2006/relationships/hyperlink" Target="wweisong.github.io/griffith-ict-casual-academic#/staff" TargetMode="External"/><Relationship Id="rId6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472" y="141732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47472" y="2560320"/>
            <a:ext cx="10515600" cy="9634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 dirty="0">
                <a:solidFill>
                  <a:srgbClr val="111111"/>
                </a:solidFill>
                <a:latin typeface="Arial"/>
              </a:rPr>
              <a:t>Preparing the People Who Teach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 dirty="0">
                <a:solidFill>
                  <a:srgbClr val="595959"/>
                </a:solidFill>
                <a:latin typeface="Arial"/>
              </a:rPr>
              <a:t>A </a:t>
            </a:r>
            <a:r>
              <a:rPr sz="2100" b="0" dirty="0">
                <a:solidFill>
                  <a:srgbClr val="C00000"/>
                </a:solidFill>
                <a:latin typeface="Arial"/>
              </a:rPr>
              <a:t>Casual Academic Management System</a:t>
            </a:r>
            <a:r>
              <a:rPr sz="2100" b="0" dirty="0">
                <a:solidFill>
                  <a:srgbClr val="595959"/>
                </a:solidFill>
                <a:latin typeface="Arial"/>
              </a:rPr>
              <a:t>, and the training to go with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347472" y="4224528"/>
            <a:ext cx="1371600" cy="3175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47472" y="4572000"/>
            <a:ext cx="10515600" cy="3400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100" b="0" dirty="0">
                <a:solidFill>
                  <a:srgbClr val="111111"/>
                </a:solidFill>
                <a:latin typeface="Arial"/>
              </a:rPr>
              <a:t>Wei Song</a:t>
            </a:r>
            <a:endParaRPr sz="1400" b="0" dirty="0">
              <a:solidFill>
                <a:srgbClr val="595959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7472" y="73152"/>
            <a:ext cx="9593970" cy="492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111111"/>
                </a:solidFill>
                <a:latin typeface="Arial"/>
              </a:rPr>
              <a:t>Why the School Needs a </a:t>
            </a:r>
            <a:r>
              <a:rPr sz="32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Arial"/>
              </a:rPr>
              <a:t>Casual Academic Pool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Convenors cannot staff a course well if they cannot see who is available.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1700784"/>
            <a:ext cx="55046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6A6A6"/>
                </a:solidFill>
                <a:latin typeface="Arial"/>
              </a:rPr>
              <a:t>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6792" y="1700784"/>
            <a:ext cx="55046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C00000"/>
                </a:solidFill>
                <a:latin typeface="Arial"/>
              </a:rPr>
              <a:t>WITH A POOL</a:t>
            </a:r>
          </a:p>
        </p:txBody>
      </p:sp>
      <p:sp>
        <p:nvSpPr>
          <p:cNvPr id="8" name="Rectangle 7"/>
          <p:cNvSpPr/>
          <p:nvPr/>
        </p:nvSpPr>
        <p:spPr>
          <a:xfrm>
            <a:off x="1728216" y="2066544"/>
            <a:ext cx="2743200" cy="566928"/>
          </a:xfrm>
          <a:prstGeom prst="rect">
            <a:avLst/>
          </a:prstGeom>
          <a:solidFill>
            <a:srgbClr val="F5F5F5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37944" y="2212848"/>
            <a:ext cx="2523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Course convenor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017520" y="2724912"/>
            <a:ext cx="164592" cy="274320"/>
          </a:xfrm>
          <a:prstGeom prst="down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2628" y="3090672"/>
            <a:ext cx="16916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44068" y="324612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Ask a colleague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3996" y="3090672"/>
            <a:ext cx="16916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345436" y="324612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Remember someone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55364" y="3090672"/>
            <a:ext cx="16916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146804" y="3246120"/>
            <a:ext cx="1508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Hope somebody asks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017520" y="3749040"/>
            <a:ext cx="164592" cy="274320"/>
          </a:xfrm>
          <a:prstGeom prst="downArrow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2414016" y="4114800"/>
            <a:ext cx="13716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523744" y="4261104"/>
            <a:ext cx="11521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A6A6A6"/>
                </a:solidFill>
                <a:latin typeface="Arial"/>
              </a:rPr>
              <a:t>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17536" y="2066544"/>
            <a:ext cx="2743200" cy="566928"/>
          </a:xfrm>
          <a:prstGeom prst="rect">
            <a:avLst/>
          </a:prstGeom>
          <a:solidFill>
            <a:srgbClr val="F5F5F5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827264" y="2212848"/>
            <a:ext cx="2523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Course convenor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9006840" y="2724912"/>
            <a:ext cx="164592" cy="274320"/>
          </a:xfrm>
          <a:prstGeom prst="down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336792" y="3090672"/>
            <a:ext cx="5504688" cy="896112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19672" y="3200400"/>
            <a:ext cx="5138928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THE POOL</a:t>
            </a:r>
          </a:p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CCCCC"/>
                </a:solidFill>
                <a:latin typeface="Arial"/>
              </a:rPr>
              <a:t>Everyone willing and able — and what each of them has taught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9006840" y="4096512"/>
            <a:ext cx="164592" cy="274320"/>
          </a:xfrm>
          <a:prstGeom prst="downArrow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717536" y="4462272"/>
            <a:ext cx="2743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827264" y="4608576"/>
            <a:ext cx="2523744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00000"/>
                </a:solidFill>
                <a:latin typeface="Arial"/>
              </a:rPr>
              <a:t>The right tutor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7472" y="5285232"/>
            <a:ext cx="5504688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Whoever comes to mind. Strong students who never hear about it never apply, and nothing carries from one trimester to the next.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285232"/>
            <a:ext cx="5504688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11111"/>
                </a:solidFill>
                <a:latin typeface="Arial"/>
              </a:rPr>
              <a:t>Search by course. See who has already taught it. Contact them directly — and the record carries forward.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7472" y="73152"/>
            <a:ext cx="9052560" cy="492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111111"/>
                </a:solidFill>
                <a:latin typeface="Arial"/>
              </a:rPr>
              <a:t>A </a:t>
            </a:r>
            <a:r>
              <a:rPr sz="3200" b="1" dirty="0">
                <a:solidFill>
                  <a:srgbClr val="C00000"/>
                </a:solidFill>
                <a:latin typeface="Arial"/>
              </a:rPr>
              <a:t>Tutor Pool </a:t>
            </a:r>
            <a:r>
              <a:rPr sz="3200" b="1" dirty="0">
                <a:solidFill>
                  <a:srgbClr val="111111"/>
                </a:solidFill>
                <a:latin typeface="Arial"/>
              </a:rPr>
              <a:t>for the School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pic>
        <p:nvPicPr>
          <p:cNvPr id="6" name="Picture 5" descr="00-entrance-candi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755648"/>
            <a:ext cx="4937760" cy="30861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1755648"/>
            <a:ext cx="4937760" cy="308610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01-entrance-sta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755648"/>
            <a:ext cx="4937760" cy="30861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400800" y="1755648"/>
            <a:ext cx="4937760" cy="308610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5001768"/>
            <a:ext cx="4937760" cy="226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C00000"/>
                </a:solidFill>
                <a:latin typeface="Arial"/>
              </a:rPr>
              <a:t>Candidates</a:t>
            </a:r>
            <a:r>
              <a:rPr sz="1400" b="1" dirty="0">
                <a:solidFill>
                  <a:srgbClr val="595959"/>
                </a:solidFill>
                <a:latin typeface="Arial"/>
              </a:rPr>
              <a:t> have their own </a:t>
            </a:r>
            <a:r>
              <a:rPr lang="en-US" altLang="zh-CN" sz="1400" b="1" dirty="0">
                <a:solidFill>
                  <a:srgbClr val="595959"/>
                </a:solidFill>
                <a:latin typeface="Arial"/>
              </a:rPr>
              <a:t>portal</a:t>
            </a:r>
            <a:endParaRPr sz="1400" b="1" dirty="0">
              <a:solidFill>
                <a:srgbClr val="595959"/>
              </a:solidFill>
              <a:latin typeface="Arial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0" y="5001768"/>
            <a:ext cx="4937760" cy="226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C00000"/>
                </a:solidFill>
                <a:latin typeface="Arial"/>
              </a:rPr>
              <a:t>Convenors</a:t>
            </a:r>
            <a:r>
              <a:rPr sz="1400" b="1" dirty="0">
                <a:solidFill>
                  <a:srgbClr val="595959"/>
                </a:solidFill>
                <a:latin typeface="Arial"/>
              </a:rPr>
              <a:t> have theirs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6B2B581-2276-0CE8-215A-E9A7BE328130}"/>
              </a:ext>
            </a:extLst>
          </p:cNvPr>
          <p:cNvSpPr txBox="1"/>
          <p:nvPr/>
        </p:nvSpPr>
        <p:spPr>
          <a:xfrm>
            <a:off x="521208" y="1124966"/>
            <a:ext cx="115214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dirty="0">
                <a:solidFill>
                  <a:srgbClr val="111111"/>
                </a:solidFill>
                <a:latin typeface="Arial"/>
              </a:rPr>
              <a:t>▪  The School has never had a list of who is willing and able to tutor. This is that list.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7472" y="73152"/>
            <a:ext cx="9052560" cy="492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111111"/>
                </a:solidFill>
                <a:latin typeface="Arial"/>
              </a:rPr>
              <a:t>The </a:t>
            </a:r>
            <a:r>
              <a:rPr sz="3200" b="1" dirty="0">
                <a:solidFill>
                  <a:srgbClr val="C00000"/>
                </a:solidFill>
                <a:latin typeface="Arial"/>
              </a:rPr>
              <a:t>Candidate's</a:t>
            </a:r>
            <a:r>
              <a:rPr sz="3200" b="1" dirty="0">
                <a:solidFill>
                  <a:srgbClr val="111111"/>
                </a:solidFill>
                <a:latin typeface="Arial"/>
              </a:rPr>
              <a:t> 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pic>
        <p:nvPicPr>
          <p:cNvPr id="6" name="Picture 5" descr="10-candi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1224017"/>
            <a:ext cx="7406640" cy="46291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7472" y="1224017"/>
            <a:ext cx="7406640" cy="462915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074151" y="1920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02751" y="1901952"/>
            <a:ext cx="3541472" cy="549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latin typeface="Arial"/>
              </a:rPr>
              <a:t>Details, teaching experience, ranked course choices, a supporting statement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74151" y="3063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02751" y="3044952"/>
            <a:ext cx="3541472" cy="2589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95959"/>
                </a:solidFill>
                <a:latin typeface="Arial"/>
              </a:rPr>
              <a:t>Always open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4151" y="4206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02751" y="4187952"/>
            <a:ext cx="3541472" cy="549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95959"/>
                </a:solidFill>
                <a:latin typeface="Arial"/>
              </a:rPr>
              <a:t>Starts blank each visit, so nothing stale is resubmitted by accident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7472" y="73152"/>
            <a:ext cx="9052560" cy="492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111111"/>
                </a:solidFill>
                <a:latin typeface="Arial"/>
              </a:rPr>
              <a:t>The </a:t>
            </a:r>
            <a:r>
              <a:rPr sz="3200" b="1" dirty="0">
                <a:solidFill>
                  <a:srgbClr val="C00000"/>
                </a:solidFill>
                <a:latin typeface="Arial"/>
              </a:rPr>
              <a:t>Convenor's</a:t>
            </a:r>
            <a:r>
              <a:rPr sz="3200" b="1" dirty="0">
                <a:solidFill>
                  <a:srgbClr val="111111"/>
                </a:solidFill>
                <a:latin typeface="Arial"/>
              </a:rPr>
              <a:t> 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pic>
        <p:nvPicPr>
          <p:cNvPr id="6" name="Picture 5" descr="11-conven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1755648"/>
            <a:ext cx="7406640" cy="46291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7472" y="1755648"/>
            <a:ext cx="7406640" cy="462915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074151" y="1920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02751" y="1901952"/>
            <a:ext cx="3541472" cy="549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95959"/>
                </a:solidFill>
                <a:latin typeface="Arial"/>
              </a:rPr>
              <a:t>Everyone registered — not only this trimester's applicants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74151" y="3063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02751" y="3044952"/>
            <a:ext cx="3541472" cy="549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95959"/>
                </a:solidFill>
                <a:latin typeface="Arial"/>
              </a:rPr>
              <a:t>Two columns: what they have taught, and what they have applied for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4151" y="4206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02751" y="4187952"/>
            <a:ext cx="3541472" cy="549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95959"/>
                </a:solidFill>
                <a:latin typeface="Arial"/>
              </a:rPr>
              <a:t>Filter by a course; those who have taught it are listed first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One Candidate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2948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700" b="0" dirty="0">
                <a:latin typeface="Arial"/>
              </a:rPr>
              <a:t>Everything known about them, in one place</a:t>
            </a:r>
          </a:p>
        </p:txBody>
      </p:sp>
      <p:pic>
        <p:nvPicPr>
          <p:cNvPr id="6" name="Picture 5" descr="21-convenor-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1755648"/>
            <a:ext cx="7406640" cy="46291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7472" y="1755648"/>
            <a:ext cx="7406640" cy="462915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074151" y="1920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02751" y="1901952"/>
            <a:ext cx="3541472" cy="2589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95959"/>
                </a:solidFill>
                <a:latin typeface="Arial"/>
              </a:rPr>
              <a:t>Full teaching history, by course and trimester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74151" y="3063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02751" y="3044952"/>
            <a:ext cx="3541472" cy="549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95959"/>
                </a:solidFill>
                <a:latin typeface="Arial"/>
              </a:rPr>
              <a:t>Their applied courses, in their own ranked order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4151" y="4206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02751" y="4187952"/>
            <a:ext cx="3541472" cy="549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95959"/>
                </a:solidFill>
                <a:latin typeface="Arial"/>
              </a:rPr>
              <a:t>Their statement, contact details and availability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7472" y="73152"/>
            <a:ext cx="9052560" cy="492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111111"/>
                </a:solidFill>
                <a:latin typeface="Arial"/>
              </a:rPr>
              <a:t>The </a:t>
            </a:r>
            <a:r>
              <a:rPr sz="3200" b="1" dirty="0">
                <a:solidFill>
                  <a:srgbClr val="C00000"/>
                </a:solidFill>
                <a:latin typeface="Arial"/>
              </a:rPr>
              <a:t>Administrator's</a:t>
            </a:r>
            <a:r>
              <a:rPr sz="3200" b="1" dirty="0">
                <a:solidFill>
                  <a:srgbClr val="111111"/>
                </a:solidFill>
                <a:latin typeface="Arial"/>
              </a:rPr>
              <a:t> 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29488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285750" indent="-28575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sz="1700" b="0" dirty="0">
                <a:latin typeface="Arial"/>
              </a:rPr>
              <a:t>The School-wide picture, and the accounts behind it</a:t>
            </a:r>
          </a:p>
        </p:txBody>
      </p:sp>
      <p:pic>
        <p:nvPicPr>
          <p:cNvPr id="6" name="Picture 5" descr="12-adm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472" y="1755648"/>
            <a:ext cx="7406640" cy="46291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47472" y="1755648"/>
            <a:ext cx="7406640" cy="4629150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074151" y="1920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02751" y="1901952"/>
            <a:ext cx="3541472" cy="2589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95959"/>
                </a:solidFill>
                <a:latin typeface="Arial"/>
              </a:rPr>
              <a:t>Every candidate, across all 187 courses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74151" y="3063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302751" y="3044952"/>
            <a:ext cx="3541472" cy="2589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595959"/>
                </a:solidFill>
                <a:latin typeface="Arial"/>
              </a:rPr>
              <a:t>Create and manage convenor accounts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4151" y="4206240"/>
            <a:ext cx="64008" cy="7772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02751" y="4187952"/>
            <a:ext cx="3541472" cy="5498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95959"/>
                </a:solidFill>
                <a:latin typeface="Arial"/>
              </a:rPr>
              <a:t>Export to CSV at any point, for the School office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7472" y="73152"/>
            <a:ext cx="9052560" cy="4923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 dirty="0">
                <a:solidFill>
                  <a:srgbClr val="111111"/>
                </a:solidFill>
                <a:latin typeface="Arial"/>
              </a:rPr>
              <a:t>A Week 0 </a:t>
            </a:r>
            <a:r>
              <a:rPr sz="3200" b="1" dirty="0">
                <a:solidFill>
                  <a:srgbClr val="C00000"/>
                </a:solidFill>
                <a:latin typeface="Arial"/>
              </a:rPr>
              <a:t>Workshop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Three hours, before teaching starts, for everyone tutoring for the first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792224"/>
            <a:ext cx="64008" cy="384048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03504" y="175564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What a tutor does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Not a second lecturer. Find out what students did not understand.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47472" y="2359152"/>
            <a:ext cx="64008" cy="38404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3504" y="232257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The tutorial model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Review · supported practice · consolidation. Draft your own first session.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7472" y="2926080"/>
            <a:ext cx="64008" cy="384048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03504" y="2889504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Micro-teaching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Deliver a five-minute concept review to a peer, with feedback both ways.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" y="3493008"/>
            <a:ext cx="64008" cy="38404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3504" y="3456432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Helping without answering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Hands off the keyboard. Ask before you tell.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72" y="4059936"/>
            <a:ext cx="64008" cy="384048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3504" y="4023360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Marking consistently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Everyone marks the same submission, then compares the spread.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472" y="4626864"/>
            <a:ext cx="64008" cy="384048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03504" y="4590288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Conduct and escalation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Boundaries, integrity, students in difficulty. Escalate, don't absorb.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5193792"/>
            <a:ext cx="64008" cy="384048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03504" y="5157216"/>
            <a:ext cx="108813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111111"/>
                </a:solidFill>
                <a:latin typeface="Arial"/>
              </a:rPr>
              <a:t>Senior tutor panel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95959"/>
                </a:solidFill>
                <a:latin typeface="Arial"/>
              </a:rPr>
              <a:t>Experienced ICT tutors — the most credible voice in the room.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" y="5907024"/>
            <a:ext cx="1152144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00000"/>
                </a:solidFill>
                <a:latin typeface="Arial"/>
              </a:rPr>
              <a:t>▪  Half the time is spent doing, not listening.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" y="6300216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6A6A6"/>
                </a:solidFill>
                <a:latin typeface="Arial"/>
              </a:rPr>
              <a:t>Deliberately excludes University compliance training and course-specific content — both are covered elsewhere.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Please Try It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The system is live. These accounts are for you to use during or after this meeting.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347472" y="1755648"/>
            <a:ext cx="5623560" cy="21488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47472" y="1755648"/>
            <a:ext cx="64008" cy="2148840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956816"/>
            <a:ext cx="5120640" cy="13122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 dirty="0">
                <a:solidFill>
                  <a:srgbClr val="0878B8"/>
                </a:solidFill>
                <a:latin typeface="Arial"/>
              </a:rPr>
              <a:t>Candidate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 dirty="0" err="1">
                <a:solidFill>
                  <a:srgbClr val="111111"/>
                </a:solidFill>
                <a:latin typeface="Arial"/>
                <a:hlinkClick r:id="rId4"/>
              </a:rPr>
              <a:t>wweisong.github.io</a:t>
            </a:r>
            <a:r>
              <a:rPr sz="1250" b="1" dirty="0">
                <a:solidFill>
                  <a:srgbClr val="111111"/>
                </a:solidFill>
                <a:latin typeface="Arial"/>
                <a:hlinkClick r:id="rId4"/>
              </a:rPr>
              <a:t>/</a:t>
            </a:r>
            <a:r>
              <a:rPr sz="1250" b="1" dirty="0" err="1">
                <a:solidFill>
                  <a:srgbClr val="111111"/>
                </a:solidFill>
                <a:latin typeface="Arial"/>
                <a:hlinkClick r:id="rId4"/>
              </a:rPr>
              <a:t>griffith</a:t>
            </a:r>
            <a:r>
              <a:rPr sz="1250" b="1" dirty="0">
                <a:solidFill>
                  <a:srgbClr val="111111"/>
                </a:solidFill>
                <a:latin typeface="Arial"/>
                <a:hlinkClick r:id="rId4"/>
              </a:rPr>
              <a:t>-</a:t>
            </a:r>
            <a:r>
              <a:rPr sz="1250" b="1" dirty="0" err="1">
                <a:solidFill>
                  <a:srgbClr val="111111"/>
                </a:solidFill>
                <a:latin typeface="Arial"/>
                <a:hlinkClick r:id="rId4"/>
              </a:rPr>
              <a:t>ict</a:t>
            </a:r>
            <a:r>
              <a:rPr sz="1250" b="1" dirty="0">
                <a:solidFill>
                  <a:srgbClr val="111111"/>
                </a:solidFill>
                <a:latin typeface="Arial"/>
                <a:hlinkClick r:id="rId4"/>
              </a:rPr>
              <a:t>-casual-academic</a:t>
            </a:r>
            <a:endParaRPr sz="1250" b="1" dirty="0">
              <a:solidFill>
                <a:srgbClr val="111111"/>
              </a:solidFill>
              <a:latin typeface="Arial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</a:rPr>
              <a:t>Mock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</a:rPr>
              <a:t> </a:t>
            </a:r>
            <a:r>
              <a:rPr lang="en-US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</a:rPr>
              <a:t>Account: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</a:rPr>
              <a:t> </a:t>
            </a:r>
            <a:r>
              <a:rPr sz="14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</a:rPr>
              <a:t>sample.liam.chen@griffithuni.edu.au</a:t>
            </a:r>
            <a:endParaRPr sz="1400" b="1" dirty="0">
              <a:solidFill>
                <a:schemeClr val="tx1">
                  <a:lumMod val="65000"/>
                  <a:lumOff val="35000"/>
                </a:schemeClr>
              </a:solidFill>
              <a:latin typeface="Arial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</a:rPr>
              <a:t>Password: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</a:rPr>
              <a:t> </a:t>
            </a:r>
            <a:r>
              <a:rPr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</a:rPr>
              <a:t>SamplePortal#2027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5352" y="1755648"/>
            <a:ext cx="5623560" cy="21488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45352" y="1755648"/>
            <a:ext cx="64008" cy="214884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519672" y="1956816"/>
            <a:ext cx="5120640" cy="13122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600" b="1" dirty="0">
                <a:solidFill>
                  <a:srgbClr val="C00000"/>
                </a:solidFill>
                <a:latin typeface="Arial"/>
              </a:rPr>
              <a:t>Course convenor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</a:pPr>
            <a:r>
              <a:rPr sz="1250" b="1" dirty="0" err="1">
                <a:solidFill>
                  <a:srgbClr val="111111"/>
                </a:solidFill>
                <a:latin typeface="Arial"/>
                <a:hlinkClick r:id="rId5"/>
              </a:rPr>
              <a:t>wweisong.github.io</a:t>
            </a:r>
            <a:r>
              <a:rPr sz="1250" b="1" dirty="0">
                <a:solidFill>
                  <a:srgbClr val="111111"/>
                </a:solidFill>
                <a:latin typeface="Arial"/>
                <a:hlinkClick r:id="rId5"/>
              </a:rPr>
              <a:t>/</a:t>
            </a:r>
            <a:r>
              <a:rPr sz="1250" b="1" dirty="0" err="1">
                <a:solidFill>
                  <a:srgbClr val="111111"/>
                </a:solidFill>
                <a:latin typeface="Arial"/>
                <a:hlinkClick r:id="rId5"/>
              </a:rPr>
              <a:t>griffith</a:t>
            </a:r>
            <a:r>
              <a:rPr sz="1250" b="1" dirty="0">
                <a:solidFill>
                  <a:srgbClr val="111111"/>
                </a:solidFill>
                <a:latin typeface="Arial"/>
                <a:hlinkClick r:id="rId5"/>
              </a:rPr>
              <a:t>-</a:t>
            </a:r>
            <a:r>
              <a:rPr sz="1250" b="1" dirty="0" err="1">
                <a:solidFill>
                  <a:srgbClr val="111111"/>
                </a:solidFill>
                <a:latin typeface="Arial"/>
                <a:hlinkClick r:id="rId5"/>
              </a:rPr>
              <a:t>ict</a:t>
            </a:r>
            <a:r>
              <a:rPr sz="1250" b="1" dirty="0">
                <a:solidFill>
                  <a:srgbClr val="111111"/>
                </a:solidFill>
                <a:latin typeface="Arial"/>
                <a:hlinkClick r:id="rId5"/>
              </a:rPr>
              <a:t>-casual-academic/#/staff</a:t>
            </a:r>
            <a:endParaRPr sz="1250" b="1" dirty="0">
              <a:solidFill>
                <a:srgbClr val="111111"/>
              </a:solidFill>
              <a:latin typeface="Arial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</a:rPr>
              <a:t>Mock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</a:rPr>
              <a:t> </a:t>
            </a:r>
            <a:r>
              <a:rPr lang="en-US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</a:rPr>
              <a:t>Account: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</a:rPr>
              <a:t> </a:t>
            </a:r>
            <a:r>
              <a:rPr sz="14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</a:rPr>
              <a:t>sample.convenor@griffith.edu.au</a:t>
            </a:r>
            <a:endParaRPr sz="1400" b="1" dirty="0">
              <a:solidFill>
                <a:schemeClr val="tx1">
                  <a:lumMod val="65000"/>
                  <a:lumOff val="35000"/>
                </a:schemeClr>
              </a:solidFill>
              <a:latin typeface="Arial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</a:pPr>
            <a:r>
              <a:rPr lang="en-US" altLang="zh-CN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</a:rPr>
              <a:t>Password:</a:t>
            </a:r>
            <a:r>
              <a:rPr lang="zh-CN" altLang="en-US"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</a:rPr>
              <a:t> </a:t>
            </a:r>
            <a:r>
              <a:rPr sz="1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rial"/>
              </a:rPr>
              <a:t>SamplePortal#2027</a:t>
            </a:r>
          </a:p>
        </p:txBody>
      </p:sp>
      <p:pic>
        <p:nvPicPr>
          <p:cNvPr id="12" name="Picture 11" descr="22-admin-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0520" y="4087368"/>
            <a:ext cx="3886200" cy="2428875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4160520" y="4087368"/>
            <a:ext cx="3886200" cy="2428875"/>
          </a:xfrm>
          <a:prstGeom prst="rect">
            <a:avLst/>
          </a:prstGeom>
          <a:noFill/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72" y="6556248"/>
            <a:ext cx="115214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A6A6A6"/>
                </a:solidFill>
                <a:latin typeface="Arial"/>
              </a:rPr>
              <a:t>Administrator access on request. The candidates shown are sample records, not real students.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7472" y="73152"/>
            <a:ext cx="905256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111111"/>
                </a:solidFill>
                <a:latin typeface="Arial"/>
              </a:rPr>
              <a:t>How the Pool Fills, and Keeps Filling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950976"/>
            <a:ext cx="12191695" cy="1397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ap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720" y="237744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47472" y="118872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595959"/>
                </a:solidFill>
                <a:latin typeface="Arial"/>
              </a:rPr>
              <a:t>The system is a tutor pool. This is the cycle that stocks it, every trimester.</a:t>
            </a:r>
          </a:p>
        </p:txBody>
      </p:sp>
      <p:sp>
        <p:nvSpPr>
          <p:cNvPr id="6" name="Oval 5"/>
          <p:cNvSpPr/>
          <p:nvPr/>
        </p:nvSpPr>
        <p:spPr>
          <a:xfrm>
            <a:off x="2679192" y="2651760"/>
            <a:ext cx="6620256" cy="3145536"/>
          </a:xfrm>
          <a:prstGeom prst="ellipse">
            <a:avLst/>
          </a:prstGeom>
          <a:noFill/>
          <a:ln w="1587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Isosceles Triangle 6"/>
          <p:cNvSpPr/>
          <p:nvPr/>
        </p:nvSpPr>
        <p:spPr>
          <a:xfrm rot="2160000">
            <a:off x="7834380" y="2851548"/>
            <a:ext cx="201168" cy="201168"/>
          </a:xfrm>
          <a:prstGeom prst="triangle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Isosceles Triangle 7"/>
          <p:cNvSpPr/>
          <p:nvPr/>
        </p:nvSpPr>
        <p:spPr>
          <a:xfrm rot="6480000">
            <a:off x="9036854" y="4609956"/>
            <a:ext cx="201168" cy="201168"/>
          </a:xfrm>
          <a:prstGeom prst="triangle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Isosceles Triangle 8"/>
          <p:cNvSpPr/>
          <p:nvPr/>
        </p:nvSpPr>
        <p:spPr>
          <a:xfrm rot="10800000">
            <a:off x="5888736" y="5696712"/>
            <a:ext cx="201168" cy="201168"/>
          </a:xfrm>
          <a:prstGeom prst="triangle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Isosceles Triangle 9"/>
          <p:cNvSpPr/>
          <p:nvPr/>
        </p:nvSpPr>
        <p:spPr>
          <a:xfrm rot="15120000">
            <a:off x="2740618" y="4609956"/>
            <a:ext cx="201168" cy="201168"/>
          </a:xfrm>
          <a:prstGeom prst="triangle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Isosceles Triangle 10"/>
          <p:cNvSpPr/>
          <p:nvPr/>
        </p:nvSpPr>
        <p:spPr>
          <a:xfrm rot="19440000">
            <a:off x="3943092" y="2851548"/>
            <a:ext cx="201168" cy="201168"/>
          </a:xfrm>
          <a:prstGeom prst="triangle">
            <a:avLst/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837176" y="2203704"/>
            <a:ext cx="2304288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837176" y="2203704"/>
            <a:ext cx="64008" cy="89611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56632" y="2313432"/>
            <a:ext cx="19385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00000"/>
                </a:solidFill>
                <a:latin typeface="Arial"/>
              </a:rPr>
              <a:t>1   INVITE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56632" y="2587752"/>
            <a:ext cx="19385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Convenors invite students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who did well in the course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85294" y="3290460"/>
            <a:ext cx="2304288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985294" y="3290460"/>
            <a:ext cx="64008" cy="896112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04750" y="3400188"/>
            <a:ext cx="19385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878B8"/>
                </a:solidFill>
                <a:latin typeface="Arial"/>
              </a:rPr>
              <a:t>2   APPLY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4750" y="3674508"/>
            <a:ext cx="19385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One standing application: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experience, ranked courses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82820" y="5048868"/>
            <a:ext cx="2304288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782820" y="5048868"/>
            <a:ext cx="64008" cy="896112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002276" y="5158596"/>
            <a:ext cx="19385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878B8"/>
                </a:solidFill>
                <a:latin typeface="Arial"/>
              </a:rPr>
              <a:t>3   SELECT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02276" y="5432916"/>
            <a:ext cx="19385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Search the pool by course.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Contact directly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91532" y="5048868"/>
            <a:ext cx="2304288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891532" y="5048868"/>
            <a:ext cx="64008" cy="89611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110988" y="5158596"/>
            <a:ext cx="19385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C00000"/>
                </a:solidFill>
                <a:latin typeface="Arial"/>
              </a:rPr>
              <a:t>4   PREPARE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10988" y="5432916"/>
            <a:ext cx="19385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Week 0 workshop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Three hours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689058" y="3290460"/>
            <a:ext cx="2304288" cy="89611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689058" y="3290460"/>
            <a:ext cx="64008" cy="896112"/>
          </a:xfrm>
          <a:prstGeom prst="rect">
            <a:avLst/>
          </a:prstGeom>
          <a:solidFill>
            <a:srgbClr val="087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908514" y="3400188"/>
            <a:ext cx="193852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878B8"/>
                </a:solidFill>
                <a:latin typeface="Arial"/>
              </a:rPr>
              <a:t>5   TEACH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08514" y="3674508"/>
            <a:ext cx="1938528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Shared tutorial model.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595959"/>
                </a:solidFill>
                <a:latin typeface="Arial"/>
              </a:rPr>
              <a:t>Week 3 check-in</a:t>
            </a:r>
          </a:p>
        </p:txBody>
      </p:sp>
      <p:sp>
        <p:nvSpPr>
          <p:cNvPr id="32" name="Oval 31"/>
          <p:cNvSpPr/>
          <p:nvPr/>
        </p:nvSpPr>
        <p:spPr>
          <a:xfrm>
            <a:off x="4416552" y="3438144"/>
            <a:ext cx="3145536" cy="1572768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0" y="3749040"/>
            <a:ext cx="283464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THE TUTOR POOL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CCCCCC"/>
                </a:solidFill>
                <a:latin typeface="Arial"/>
              </a:rPr>
              <a:t>Who they are, what they</a:t>
            </a:r>
            <a:br/>
            <a:r>
              <a:t>have taught, what they</a:t>
            </a:r>
            <a:br/>
            <a:r>
              <a:t>want to teach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" y="6217920"/>
            <a:ext cx="115214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11111"/>
                </a:solidFill>
                <a:latin typeface="Arial"/>
              </a:rPr>
              <a:t>▪  Step 1 is how the pool gets stocked. Step 4 is the part the School does not have yet.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1059</Words>
  <Application>Microsoft Macintosh PowerPoint</Application>
  <PresentationFormat>Widescreen</PresentationFormat>
  <Paragraphs>99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Wei Song</cp:lastModifiedBy>
  <cp:revision>29</cp:revision>
  <dcterms:created xsi:type="dcterms:W3CDTF">2013-01-27T09:14:16Z</dcterms:created>
  <dcterms:modified xsi:type="dcterms:W3CDTF">2026-09-03T12:04:23Z</dcterms:modified>
  <cp:category/>
</cp:coreProperties>
</file>