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halves. A tutor pool that makes candidates findable — built, deployed, and I can demonstrate it today. And the training that makes them ready, which is what I am asking the School to endorse.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argument. A convenor staffing a course today relies on who they happen to know, which is both a narrower pool and a less fair one — a strong student with no connection to the teaching team never hears about it. A pool makes the same decision on better information, and keeps the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links: one goes to students, one to staff, so each audience sees only what applies to them. Built at no cost to the School.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have exactly one job here, so they get exactly one page and no navigation to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page that addresses the real problem. Convenors do not struggle to run a selection process — they struggle to find out who is available at all. Note the people who have taught a course but did not apply this time; they were invisible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approval workflow and no shortlisting buttons. The system informs the convenor; the decision and the conversation stay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Coordinator this is where I would identify first-time tutors for the Week 0 workshop — derived from the records, rather than by asking around.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compliance training: Griffith does that already and repeating it would waste the only three hours the School gets. Not course-specific either — convenors brief their own tutors. This is what is common to all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Please do open it. The convenor account shows the page that matters most. Everything — proposal, process, workshop run sheet, code of conduct — is at github.com/WWEISONG/griffith-ict-casual-academic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system is a pool, and a pool only works if something keeps filling it. That is Step 1: at results release, convenors invite the students who did well. Today students find out about tutoring by knowing somebody, which is both a narrower and a less fair pool than it should be. Step 4 is the training, and the only part that does not exist in some form already.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41732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47472" y="256032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111111"/>
                </a:solidFill>
                <a:latin typeface="Arial"/>
              </a:rPr>
              <a:t>Preparing the People Who Teach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95959"/>
                </a:solidFill>
                <a:latin typeface="Arial"/>
              </a:rPr>
              <a:t>A Casual Academic Management System, and the training to go with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4224528"/>
            <a:ext cx="1371600" cy="317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4572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>
                <a:solidFill>
                  <a:srgbClr val="111111"/>
                </a:solidFill>
                <a:latin typeface="Arial"/>
              </a:rPr>
              <a:t>Wei Song  ·  School of Information and Communication Technology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Arial"/>
              </a:rPr>
              <a:t>Proposal to the Head of School  —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Why the School Needs a Casual Academic Pool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Convenors cannot staff a course well if they cannot see who is available.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700784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A6A6"/>
                </a:solidFill>
                <a:latin typeface="Arial"/>
              </a:rPr>
              <a:t>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792" y="1700784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Arial"/>
              </a:rPr>
              <a:t>WITH A POOL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8216" y="2066544"/>
            <a:ext cx="2743200" cy="566928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37944" y="2212848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Course convenor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017520" y="2724912"/>
            <a:ext cx="164592" cy="274320"/>
          </a:xfrm>
          <a:prstGeom prst="down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" y="3090672"/>
            <a:ext cx="16916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068" y="3246120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Ask a colleague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3996" y="3090672"/>
            <a:ext cx="16916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45436" y="3246120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Remember someone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55364" y="3090672"/>
            <a:ext cx="16916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46804" y="3246120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Hope somebody asks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017520" y="3749040"/>
            <a:ext cx="164592" cy="274320"/>
          </a:xfrm>
          <a:prstGeom prst="down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14016" y="4114800"/>
            <a:ext cx="1371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23744" y="4261104"/>
            <a:ext cx="115214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A6A6A6"/>
                </a:solidFill>
                <a:latin typeface="Arial"/>
              </a:rPr>
              <a:t>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17536" y="2066544"/>
            <a:ext cx="2743200" cy="566928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27264" y="2212848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Course convenor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9006840" y="2724912"/>
            <a:ext cx="164592" cy="274320"/>
          </a:xfrm>
          <a:prstGeom prst="down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36792" y="3090672"/>
            <a:ext cx="5504688" cy="896112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2" y="3200400"/>
            <a:ext cx="513892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THE POOL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CCCCC"/>
                </a:solidFill>
                <a:latin typeface="Arial"/>
              </a:rPr>
              <a:t>Everyone willing and able — and what each of them has taught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9006840" y="4096512"/>
            <a:ext cx="164592" cy="274320"/>
          </a:xfrm>
          <a:prstGeom prst="down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17536" y="4462272"/>
            <a:ext cx="2743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27264" y="4608576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00000"/>
                </a:solidFill>
                <a:latin typeface="Arial"/>
              </a:rPr>
              <a:t>The right tutor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5285232"/>
            <a:ext cx="550468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Whoever comes to mind. Strong students who never hear about it never apply, and nothing carries from one trimester to the next.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285232"/>
            <a:ext cx="550468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11111"/>
                </a:solidFill>
                <a:latin typeface="Arial"/>
              </a:rPr>
              <a:t>Search by course. See who has already taught it. Contact them directly — and the record carries forward.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A Tutor Pool for the School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Built and deployed. One place where senior students put themselves forward, and convenors find out who can teach their course.</a:t>
            </a:r>
          </a:p>
        </p:txBody>
      </p:sp>
      <p:pic>
        <p:nvPicPr>
          <p:cNvPr id="6" name="Picture 5" descr="00-entrance-candi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55648"/>
            <a:ext cx="4937760" cy="30861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1755648"/>
            <a:ext cx="4937760" cy="308610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-entrance-sta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755648"/>
            <a:ext cx="4937760" cy="30861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400800" y="1755648"/>
            <a:ext cx="4937760" cy="308610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0017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95959"/>
                </a:solidFill>
                <a:latin typeface="Arial"/>
              </a:rPr>
              <a:t>Candidates have their own 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0017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95959"/>
                </a:solidFill>
                <a:latin typeface="Arial"/>
              </a:rPr>
              <a:t>Convenors have theirs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5550408"/>
            <a:ext cx="11521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▪  The School has never had a list of who is willing and able to tutor. This is that list.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The Candidate's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One page, one form — everything a student needs to do.</a:t>
            </a:r>
          </a:p>
        </p:txBody>
      </p:sp>
      <p:pic>
        <p:nvPicPr>
          <p:cNvPr id="6" name="Picture 5" descr="10-candi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755648"/>
            <a:ext cx="7406640" cy="46291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755648"/>
            <a:ext cx="7406640" cy="462915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74151" y="1920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1" y="1901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Details, teaching experience, ranked course choices, a supporting statement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74151" y="3063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1" y="3044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Always open — no recruitment round to wait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4151" y="4206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1" y="4187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Starts blank each visit, so nothing stale is resubmitted by accident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The Convenor's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Every candidate in the pool, searchable by course.</a:t>
            </a:r>
          </a:p>
        </p:txBody>
      </p:sp>
      <p:pic>
        <p:nvPicPr>
          <p:cNvPr id="6" name="Picture 5" descr="11-conven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755648"/>
            <a:ext cx="7406640" cy="46291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755648"/>
            <a:ext cx="7406640" cy="462915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74151" y="1920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1" y="1901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Everyone registered — not only this trimester's applicants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74151" y="3063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1" y="3044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Two columns: what they have taught, and what they have applied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4151" y="4206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1" y="4187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Filter by a course; those who have taught it are listed first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One Candidate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Everything known about them, in one place.</a:t>
            </a:r>
          </a:p>
        </p:txBody>
      </p:sp>
      <p:pic>
        <p:nvPicPr>
          <p:cNvPr id="6" name="Picture 5" descr="21-convenor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755648"/>
            <a:ext cx="7406640" cy="46291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755648"/>
            <a:ext cx="7406640" cy="462915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74151" y="1920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1" y="1901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Full teaching history, by course and trimester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74151" y="3063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1" y="3044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Their applied courses, in their own ranked order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4151" y="4206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1" y="4187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Their statement, contact details and availability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The Administrator's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The School-wide picture, and the accounts behind it.</a:t>
            </a:r>
          </a:p>
        </p:txBody>
      </p:sp>
      <p:pic>
        <p:nvPicPr>
          <p:cNvPr id="6" name="Picture 5" descr="12-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755648"/>
            <a:ext cx="7406640" cy="46291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755648"/>
            <a:ext cx="7406640" cy="462915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74151" y="1920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1" y="1901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Every candidate, across all 187 courses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74151" y="3063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1" y="3044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Create and manage convenor accounts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4151" y="4206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1" y="4187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Export to CSV at any point, for the School office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The Missing Half: A Week 0 Workshop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Three hours, before teaching starts, for everyone tutoring for the first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792224"/>
            <a:ext cx="64008" cy="38404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75564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What a tutor does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Not a second lecturer. Find out what students did not understand.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2359152"/>
            <a:ext cx="64008" cy="3840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232257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The tutorial model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Review · supported practice · consolidation. Draft your own first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" y="2926080"/>
            <a:ext cx="64008" cy="38404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288950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Micro-teaching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Deliver a five-minute concept review to a peer, with feedback both ways.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3493008"/>
            <a:ext cx="64008" cy="3840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3456432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Helping without answering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Hands off the keyboard. Ask before you tell.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4059936"/>
            <a:ext cx="64008" cy="38404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4023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Marking consistently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Everyone marks the same submission, then compares the spread.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4626864"/>
            <a:ext cx="64008" cy="38404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459028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Conduct and escalation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Boundaries, integrity, students in difficulty. Escalate, don't absorb.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5193792"/>
            <a:ext cx="64008" cy="38404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515721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Senior tutor panel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Experienced ICT tutors — the most credible voice in the room.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5907024"/>
            <a:ext cx="11521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00000"/>
                </a:solidFill>
                <a:latin typeface="Arial"/>
              </a:rPr>
              <a:t>▪  Half the time is spent doing, not listening.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630021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Arial"/>
              </a:rPr>
              <a:t>Deliberately excludes University compliance training and course-specific content — both are covered elsewhere.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Please Try It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The system is live. These accounts are for you to use during or after this meeting.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755648"/>
            <a:ext cx="5623560" cy="21488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755648"/>
            <a:ext cx="64008" cy="21488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56816"/>
            <a:ext cx="51206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0878B8"/>
                </a:solidFill>
                <a:latin typeface="Arial"/>
              </a:rPr>
              <a:t>Candidate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111111"/>
                </a:solidFill>
                <a:latin typeface="Arial"/>
              </a:rPr>
              <a:t>wweisong.github.io/griffith-ict-casual-academic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sample.liam.chen@griffithuni.edu.au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C00000"/>
                </a:solidFill>
                <a:latin typeface="Arial"/>
              </a:rPr>
              <a:t>SamplePortal#2027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Opens the application form a student fills 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352" y="1755648"/>
            <a:ext cx="5623560" cy="21488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2" y="1755648"/>
            <a:ext cx="64008" cy="21488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956816"/>
            <a:ext cx="51206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C00000"/>
                </a:solidFill>
                <a:latin typeface="Arial"/>
              </a:rPr>
              <a:t>Course convenor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111111"/>
                </a:solidFill>
                <a:latin typeface="Arial"/>
              </a:rPr>
              <a:t>wweisong.github.io/griffith-ict-casual-academic/#/staff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sample.convenor@griffith.edu.au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C00000"/>
                </a:solidFill>
                <a:latin typeface="Arial"/>
              </a:rPr>
              <a:t>SamplePortal#2027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Opens the candidate list — the page that matters most.</a:t>
            </a:r>
          </a:p>
        </p:txBody>
      </p:sp>
      <p:pic>
        <p:nvPicPr>
          <p:cNvPr id="12" name="Picture 11" descr="22-admin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4087368"/>
            <a:ext cx="3886200" cy="242887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160520" y="4087368"/>
            <a:ext cx="3886200" cy="2428875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6556248"/>
            <a:ext cx="11521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Arial"/>
              </a:rPr>
              <a:t>Administrator access on request. The candidates shown are sample records, not real students.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How the Pool Fills, and Keeps Filling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The system is a tutor pool. This is the cycle that stocks it, every trimester.</a:t>
            </a:r>
          </a:p>
        </p:txBody>
      </p:sp>
      <p:sp>
        <p:nvSpPr>
          <p:cNvPr id="6" name="Oval 5"/>
          <p:cNvSpPr/>
          <p:nvPr/>
        </p:nvSpPr>
        <p:spPr>
          <a:xfrm>
            <a:off x="2679192" y="2651760"/>
            <a:ext cx="6620256" cy="3145536"/>
          </a:xfrm>
          <a:prstGeom prst="ellipse">
            <a:avLst/>
          </a:prstGeom>
          <a:noFill/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2160000">
            <a:off x="7834380" y="2851548"/>
            <a:ext cx="201168" cy="201168"/>
          </a:xfrm>
          <a:prstGeom prst="triangle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6480000">
            <a:off x="9036854" y="4609956"/>
            <a:ext cx="201168" cy="201168"/>
          </a:xfrm>
          <a:prstGeom prst="triangle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5888736" y="5696712"/>
            <a:ext cx="201168" cy="201168"/>
          </a:xfrm>
          <a:prstGeom prst="triangle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5120000">
            <a:off x="2740618" y="4609956"/>
            <a:ext cx="201168" cy="201168"/>
          </a:xfrm>
          <a:prstGeom prst="triangle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9440000">
            <a:off x="3943092" y="2851548"/>
            <a:ext cx="201168" cy="201168"/>
          </a:xfrm>
          <a:prstGeom prst="triangle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37176" y="2203704"/>
            <a:ext cx="2304288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37176" y="2203704"/>
            <a:ext cx="64008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6632" y="2313432"/>
            <a:ext cx="19385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00000"/>
                </a:solidFill>
                <a:latin typeface="Arial"/>
              </a:rPr>
              <a:t>1   INVITE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56632" y="2587752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Convenors invite students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who did well in the course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85294" y="3290460"/>
            <a:ext cx="2304288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85294" y="3290460"/>
            <a:ext cx="64008" cy="896112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4750" y="3400188"/>
            <a:ext cx="19385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878B8"/>
                </a:solidFill>
                <a:latin typeface="Arial"/>
              </a:rPr>
              <a:t>2   APPLY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4750" y="3674508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One standing application: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experience, ranked courses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82820" y="5048868"/>
            <a:ext cx="2304288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82820" y="5048868"/>
            <a:ext cx="64008" cy="896112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2276" y="5158596"/>
            <a:ext cx="19385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878B8"/>
                </a:solidFill>
                <a:latin typeface="Arial"/>
              </a:rPr>
              <a:t>3   SELECT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2276" y="5432916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Search the pool by course.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Contact directly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91532" y="5048868"/>
            <a:ext cx="2304288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91532" y="5048868"/>
            <a:ext cx="64008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10988" y="5158596"/>
            <a:ext cx="19385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00000"/>
                </a:solidFill>
                <a:latin typeface="Arial"/>
              </a:rPr>
              <a:t>4   PREPARE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10988" y="5432916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Week 0 workshop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Three hours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89058" y="3290460"/>
            <a:ext cx="2304288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89058" y="3290460"/>
            <a:ext cx="64008" cy="896112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08514" y="3400188"/>
            <a:ext cx="19385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878B8"/>
                </a:solidFill>
                <a:latin typeface="Arial"/>
              </a:rPr>
              <a:t>5   TEACH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08514" y="3674508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Shared tutorial model.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Week 3 check-in</a:t>
            </a:r>
          </a:p>
        </p:txBody>
      </p:sp>
      <p:sp>
        <p:nvSpPr>
          <p:cNvPr id="32" name="Oval 31"/>
          <p:cNvSpPr/>
          <p:nvPr/>
        </p:nvSpPr>
        <p:spPr>
          <a:xfrm>
            <a:off x="4416552" y="3438144"/>
            <a:ext cx="3145536" cy="1572768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3749040"/>
            <a:ext cx="2834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THE TUTOR POOL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CCCCC"/>
                </a:solidFill>
                <a:latin typeface="Arial"/>
              </a:rPr>
              <a:t>Who they are, what they</a:t>
            </a:r>
            <a:br/>
            <a:r>
              <a:t>have taught, what they</a:t>
            </a:r>
            <a:br/>
            <a:r>
              <a:t>want to teach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" y="62179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▪  Step 1 is how the pool gets stocked. Step 4 is the part the School does not have yet.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